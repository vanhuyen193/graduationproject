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e9ba7a517417e" /><Relationship Type="http://schemas.openxmlformats.org/officeDocument/2006/relationships/extended-properties" Target="/docProps/app.xml" Id="Rc18c4f9f07614a99" /><Relationship Type="http://schemas.openxmlformats.org/officeDocument/2006/relationships/officeDocument" Target="/ppt/presentation.xml" Id="R3993431161e4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25ecdd88d4edc"/>
  </p:sldMasterIdLst>
  <p:notesMasterIdLst>
    <p:notesMasterId xmlns:r="http://schemas.openxmlformats.org/officeDocument/2006/relationships" r:id="Rd0cb80182ed14bd2"/>
  </p:notesMasterIdLst>
  <p:sldIdLst>
    <p:sldId xmlns:r="http://schemas.openxmlformats.org/officeDocument/2006/relationships" id="256" r:id="Re37edd5d48e147d3"/>
    <p:sldId xmlns:r="http://schemas.openxmlformats.org/officeDocument/2006/relationships" id="257" r:id="R2bcda0f1bc904262"/>
    <p:sldId xmlns:r="http://schemas.openxmlformats.org/officeDocument/2006/relationships" id="258" r:id="Re977a91a79bc43f4"/>
    <p:sldId xmlns:r="http://schemas.openxmlformats.org/officeDocument/2006/relationships" id="259" r:id="R76e61f84301246c2"/>
    <p:sldId xmlns:r="http://schemas.openxmlformats.org/officeDocument/2006/relationships" id="260" r:id="Rb661415ce7134828"/>
    <p:sldId xmlns:r="http://schemas.openxmlformats.org/officeDocument/2006/relationships" id="261" r:id="Rbbfe9f4068494c5d"/>
    <p:sldId xmlns:r="http://schemas.openxmlformats.org/officeDocument/2006/relationships" id="262" r:id="R374227acacb04468"/>
    <p:sldId xmlns:r="http://schemas.openxmlformats.org/officeDocument/2006/relationships" id="263" r:id="R8058f0b874f44118"/>
    <p:sldId xmlns:r="http://schemas.openxmlformats.org/officeDocument/2006/relationships" id="264" r:id="Rc427a7713d0d46e8"/>
    <p:sldId xmlns:r="http://schemas.openxmlformats.org/officeDocument/2006/relationships" id="265" r:id="Rc90503bf7b844157"/>
    <p:sldId xmlns:r="http://schemas.openxmlformats.org/officeDocument/2006/relationships" id="266" r:id="R59f9f11ffb754f57"/>
    <p:sldId xmlns:r="http://schemas.openxmlformats.org/officeDocument/2006/relationships" id="267" r:id="R3ee08f16fb894503"/>
    <p:sldId xmlns:r="http://schemas.openxmlformats.org/officeDocument/2006/relationships" id="268" r:id="R31679335289a4c5e"/>
    <p:sldId xmlns:r="http://schemas.openxmlformats.org/officeDocument/2006/relationships" id="269" r:id="R9b859d77f1cc41b9"/>
    <p:sldId xmlns:r="http://schemas.openxmlformats.org/officeDocument/2006/relationships" id="270" r:id="R667a62cda9fa4373"/>
    <p:sldId xmlns:r="http://schemas.openxmlformats.org/officeDocument/2006/relationships" id="271" r:id="Re07be7de3b234e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2854b167f42b2" /><Relationship Type="http://schemas.openxmlformats.org/officeDocument/2006/relationships/slideMaster" Target="/ppt/slideMasters/slideMaster1.xml" Id="R1bd25ecdd88d4edc" /><Relationship Type="http://schemas.openxmlformats.org/officeDocument/2006/relationships/notesMaster" Target="/ppt/notesMasters/notesMaster1.xml" Id="Rd0cb80182ed14bd2" /><Relationship Type="http://schemas.openxmlformats.org/officeDocument/2006/relationships/presProps" Target="/ppt/presProps.xml" Id="R75cc0e0580a443e1" /><Relationship Type="http://schemas.openxmlformats.org/officeDocument/2006/relationships/viewProps" Target="/ppt/viewProps.xml" Id="Rd1c3ccb2188f4273" /><Relationship Type="http://schemas.openxmlformats.org/officeDocument/2006/relationships/tableStyles" Target="/ppt/tableStyles.xml" Id="Ra4227cd718a94f22" /><Relationship Type="http://schemas.openxmlformats.org/officeDocument/2006/relationships/slide" Target="/ppt/slides/slide1.xml" Id="Re37edd5d48e147d3" /><Relationship Type="http://schemas.openxmlformats.org/officeDocument/2006/relationships/slide" Target="/ppt/slides/slide2.xml" Id="R2bcda0f1bc904262" /><Relationship Type="http://schemas.openxmlformats.org/officeDocument/2006/relationships/slide" Target="/ppt/slides/slide3.xml" Id="Re977a91a79bc43f4" /><Relationship Type="http://schemas.openxmlformats.org/officeDocument/2006/relationships/slide" Target="/ppt/slides/slide4.xml" Id="R76e61f84301246c2" /><Relationship Type="http://schemas.openxmlformats.org/officeDocument/2006/relationships/slide" Target="/ppt/slides/slide5.xml" Id="Rb661415ce7134828" /><Relationship Type="http://schemas.openxmlformats.org/officeDocument/2006/relationships/slide" Target="/ppt/slides/slide6.xml" Id="Rbbfe9f4068494c5d" /><Relationship Type="http://schemas.openxmlformats.org/officeDocument/2006/relationships/slide" Target="/ppt/slides/slide7.xml" Id="R374227acacb04468" /><Relationship Type="http://schemas.openxmlformats.org/officeDocument/2006/relationships/slide" Target="/ppt/slides/slide8.xml" Id="R8058f0b874f44118" /><Relationship Type="http://schemas.openxmlformats.org/officeDocument/2006/relationships/slide" Target="/ppt/slides/slide9.xml" Id="Rc427a7713d0d46e8" /><Relationship Type="http://schemas.openxmlformats.org/officeDocument/2006/relationships/slide" Target="/ppt/slides/slide10.xml" Id="Rc90503bf7b844157" /><Relationship Type="http://schemas.openxmlformats.org/officeDocument/2006/relationships/slide" Target="/ppt/slides/slide11.xml" Id="R59f9f11ffb754f57" /><Relationship Type="http://schemas.openxmlformats.org/officeDocument/2006/relationships/slide" Target="/ppt/slides/slide12.xml" Id="R3ee08f16fb894503" /><Relationship Type="http://schemas.openxmlformats.org/officeDocument/2006/relationships/slide" Target="/ppt/slides/slide13.xml" Id="R31679335289a4c5e" /><Relationship Type="http://schemas.openxmlformats.org/officeDocument/2006/relationships/slide" Target="/ppt/slides/slide14.xml" Id="R9b859d77f1cc41b9" /><Relationship Type="http://schemas.openxmlformats.org/officeDocument/2006/relationships/slide" Target="/ppt/slides/slide15.xml" Id="R667a62cda9fa4373" /><Relationship Type="http://schemas.openxmlformats.org/officeDocument/2006/relationships/slide" Target="/ppt/slides/slide16.xml" Id="Re07be7de3b234e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84bfbc22b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d519ac75e422c" /><Relationship Type="http://schemas.openxmlformats.org/officeDocument/2006/relationships/notesMaster" Target="/ppt/notesMasters/notesMaster1.xml" Id="R8d39be9ad01d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18ee4467fd44a1" /><Relationship Type="http://schemas.openxmlformats.org/officeDocument/2006/relationships/notesMaster" Target="/ppt/notesMasters/notesMaster1.xml" Id="R131bf0c46ec44b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5ce74cf2d4d6d" /><Relationship Type="http://schemas.openxmlformats.org/officeDocument/2006/relationships/notesMaster" Target="/ppt/notesMasters/notesMaster1.xml" Id="R0462551f4db2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ae09ecf58f4248" /><Relationship Type="http://schemas.openxmlformats.org/officeDocument/2006/relationships/notesMaster" Target="/ppt/notesMasters/notesMaster1.xml" Id="Rca7c34983137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959bb05554fef" /><Relationship Type="http://schemas.openxmlformats.org/officeDocument/2006/relationships/notesMaster" Target="/ppt/notesMasters/notesMaster1.xml" Id="R29c655c04a41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f2158ea6040eb" /><Relationship Type="http://schemas.openxmlformats.org/officeDocument/2006/relationships/notesMaster" Target="/ppt/notesMasters/notesMaster1.xml" Id="Rab14a195bcb34a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8295800f74697" /><Relationship Type="http://schemas.openxmlformats.org/officeDocument/2006/relationships/notesMaster" Target="/ppt/notesMasters/notesMaster1.xml" Id="Rb8e3cfdbb18a41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4451fccc9e49cf" /><Relationship Type="http://schemas.openxmlformats.org/officeDocument/2006/relationships/notesMaster" Target="/ppt/notesMasters/notesMaster1.xml" Id="R749f512b5826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1d0f8f11a74578" /><Relationship Type="http://schemas.openxmlformats.org/officeDocument/2006/relationships/notesMaster" Target="/ppt/notesMasters/notesMaster1.xml" Id="R3147936722fa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8fba5a60d24d56" /><Relationship Type="http://schemas.openxmlformats.org/officeDocument/2006/relationships/notesMaster" Target="/ppt/notesMasters/notesMaster1.xml" Id="Rcaeab7bdc78f45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8f0f7ad9e4da5" /><Relationship Type="http://schemas.openxmlformats.org/officeDocument/2006/relationships/notesMaster" Target="/ppt/notesMasters/notesMaster1.xml" Id="Rcbc48446f92346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15cd3d481c43c9" /><Relationship Type="http://schemas.openxmlformats.org/officeDocument/2006/relationships/notesMaster" Target="/ppt/notesMasters/notesMaster1.xml" Id="R9d024f42798548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7d13549cd24270" /><Relationship Type="http://schemas.openxmlformats.org/officeDocument/2006/relationships/notesMaster" Target="/ppt/notesMasters/notesMaster1.xml" Id="R0e1db567b8f843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aa6e34e6854b5b" /><Relationship Type="http://schemas.openxmlformats.org/officeDocument/2006/relationships/notesMaster" Target="/ppt/notesMasters/notesMaster1.xml" Id="R9d09dce0f1674c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d2b89257fa4e89" /><Relationship Type="http://schemas.openxmlformats.org/officeDocument/2006/relationships/notesMaster" Target="/ppt/notesMasters/notesMaster1.xml" Id="R8fbe472ede9543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92b03712d74939" /><Relationship Type="http://schemas.openxmlformats.org/officeDocument/2006/relationships/notesMaster" Target="/ppt/notesMasters/notesMaster1.xml" Id="Rd055eae3d64f41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Đồ_án_tốt_nghiệp/main.tex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Đồ_án_tốt_nghiệp/sec_abstract.tex; sec6.tex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Đồ_án_tốt_nghiệp/sec5.tex; sec6_5_app.tex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Đồ_án_tốt_nghiệp/sec5.tex, mục 3.1.4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Đồ_án_tốt_nghiệp/sec5.tex, mục 3.3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Đồ_án_tốt_nghiệp/sec5.tex, mục 3.4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Đồ_án_tốt_nghiệp/sec5.tex, mục 3.5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Đồ_án_tốt_nghiệp/sec5.tex; sec6.tex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Đồ_án_tốt_nghiệp/sec6.tex; 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Đồ_án_tốt_nghiệp/sec6.tex; 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Đồ_án_tốt_nghiệp/sec6.tex; 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Đồ_án_tốt_nghiệp/sec6_5_app.tex; 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Đồ_án_tốt_nghiệp/sec7.tex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911baca464b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a356f6b7f4b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067d9299142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d4072132e42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028c7fc9b43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93910166249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0ce94314d4c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c6dd3ddb346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a317c816a46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29c4cbd0f4f8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bf083999c45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EFC08-1A24-B44F-5F9C-2478A65206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853569-70C0-D6B2-6FBD-48B9E4694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5369EE-6203-3F7A-D3D7-06F311D89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40B0E9-11AA-4BA1-0432-9CA96E024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A8742D-8AAA-0F9D-4C98-88469AFE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C84624-BEEA-FA81-F4F3-18368CE2F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640F75-1173-9BAC-1BCA-2EE1E3287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95310F-718F-D49A-0DEF-2B29D84C9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AD689F-A346-E3DA-AA77-16E9D30CD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129D5F-E455-AAB7-A829-1037D0BCD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18EC6F-43EA-12D3-2F7C-38142DB631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6A8FF1-FDA5-0B2E-2E32-F1D6099CD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CB64B3-433A-0831-09C9-B0BE2818CF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09D54D2-57D9-0833-F76A-52E4553B00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F56E19-0252-6973-31D9-974068975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DF1D1A-0312-A080-6B75-8CEA41E982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DC6BB1-73DF-8B55-B337-1D84F5440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CFAE-DC25-9859-27FD-F7ACC33B1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71F38E-F2C6-336F-FAA9-481DF9CF04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52F8CA-4773-1D24-4DBB-76CF5684A1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EC5D217-68BC-363A-D4E5-D137DA16765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5FA42E5-1EE9-A849-EF9E-60C2578BBC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1E8CDDA-CF91-8E38-21DF-3914AA5F24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3EBCFB3-BF88-00C8-C34C-3C92A4CF4D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28A0FEE-C5E5-199B-D28A-9D446C352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55DFC8-F96E-3168-1E8C-B9C1B5F9B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D65F6B-D369-A3E1-04F5-8611C11603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12F0EF6-5933-0FCA-3AED-3000751E5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D326626-A47C-7341-9F8B-DBC1A79932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195727-F11C-2185-F76B-EFE191A012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622221-BCC4-0E35-90D1-06DC663FE8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3E0A8EF-2F62-4DAD-A346-A802A0A1F8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BF60ED-B286-CA6A-C994-D1E8A08D1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1427FD-C9D3-0181-C06D-264D91D3D1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D9D49E-9AB0-E434-B44F-831EE2CC0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8AF7E7C-2AC6-6C87-9B27-960EEEF80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66032B9-5DC0-5C95-5D8F-AFC1360DF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834CDE-241D-0D23-1DDB-12191F695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34C1F2-5075-B03F-521B-C5A5B7E20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EB87DF6-C340-107B-5D77-4FD6A95A75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C14473-C1DD-81F7-9344-B965677DD8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0EA972D-9A2F-688B-0B58-F65601E619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12FA9D5-80A2-3696-1545-16B955F75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E0E09A-FFBB-5725-7ACF-0F5C303FC0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BABC25-422D-D620-67E9-D1E97854C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CAF3CF-542B-C741-AC53-EDAC43F9F8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ACEE8-ACC6-31C3-4228-9812AF3D5A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6282-EEF0-0269-4B4C-9BC71E8CD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CC73D4-0BFB-EFCC-167D-E1C6E08D7C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886152F-7079-02A1-98E1-EB769BE41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06F457-7430-8832-FC34-8E58FBF3EC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BDD038-A360-41B6-54B7-ABEBEA8DBC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92399C-1F1E-A715-C0D1-A12A9BD5A6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C0F546-9E38-B033-FDE8-6470BFA0F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87dba6f0143c1" /><Relationship Type="http://schemas.openxmlformats.org/officeDocument/2006/relationships/slideLayout" Target="/ppt/slideLayouts/slideLayout1.xml" Id="Rccadae52d55f4b08" /><Relationship Type="http://schemas.openxmlformats.org/officeDocument/2006/relationships/slideLayout" Target="/ppt/slideLayouts/slideLayout2.xml" Id="Raff1512637124109" /><Relationship Type="http://schemas.openxmlformats.org/officeDocument/2006/relationships/slideLayout" Target="/ppt/slideLayouts/slideLayout3.xml" Id="Rbc99a07310ec447a" /><Relationship Type="http://schemas.openxmlformats.org/officeDocument/2006/relationships/slideLayout" Target="/ppt/slideLayouts/slideLayout4.xml" Id="R5bf19dc4de5a4c00" /><Relationship Type="http://schemas.openxmlformats.org/officeDocument/2006/relationships/slideLayout" Target="/ppt/slideLayouts/slideLayout5.xml" Id="Rd0aa804e82e14d73" /><Relationship Type="http://schemas.openxmlformats.org/officeDocument/2006/relationships/slideLayout" Target="/ppt/slideLayouts/slideLayout6.xml" Id="Rea12fc3046364779" /><Relationship Type="http://schemas.openxmlformats.org/officeDocument/2006/relationships/slideLayout" Target="/ppt/slideLayouts/slideLayout7.xml" Id="R32da6338c9934467" /><Relationship Type="http://schemas.openxmlformats.org/officeDocument/2006/relationships/slideLayout" Target="/ppt/slideLayouts/slideLayout8.xml" Id="Rb7727c82a9784abf" /><Relationship Type="http://schemas.openxmlformats.org/officeDocument/2006/relationships/slideLayout" Target="/ppt/slideLayouts/slideLayout9.xml" Id="R8b5516d2324043ca" /><Relationship Type="http://schemas.openxmlformats.org/officeDocument/2006/relationships/slideLayout" Target="/ppt/slideLayouts/slideLayout10.xml" Id="R476ccde3f66546c6" /><Relationship Type="http://schemas.openxmlformats.org/officeDocument/2006/relationships/slideLayout" Target="/ppt/slideLayouts/slideLayout11.xml" Id="Ra8d6f17191c748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CCA298B-770A-8F2F-77FE-BF7BD2555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381BC-0D38-CFE8-1E8A-9A1BFCE3A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1FA21A-5A42-2AF5-B8CC-C1705C910A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C2BBD2-B0E1-5F18-7545-8A31DD6499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F480A0-F6D1-DE69-67E8-E708FDBA01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dae52d55f4b08"/>
    <p:sldLayoutId xmlns:r="http://schemas.openxmlformats.org/officeDocument/2006/relationships" id="2147483650" r:id="Raff1512637124109"/>
    <p:sldLayoutId xmlns:r="http://schemas.openxmlformats.org/officeDocument/2006/relationships" id="2147483651" r:id="Rbc99a07310ec447a"/>
    <p:sldLayoutId xmlns:r="http://schemas.openxmlformats.org/officeDocument/2006/relationships" id="2147483652" r:id="R5bf19dc4de5a4c00"/>
    <p:sldLayoutId xmlns:r="http://schemas.openxmlformats.org/officeDocument/2006/relationships" id="2147483653" r:id="Rd0aa804e82e14d73"/>
    <p:sldLayoutId xmlns:r="http://schemas.openxmlformats.org/officeDocument/2006/relationships" id="2147483654" r:id="Rea12fc3046364779"/>
    <p:sldLayoutId xmlns:r="http://schemas.openxmlformats.org/officeDocument/2006/relationships" id="2147483655" r:id="R32da6338c9934467"/>
    <p:sldLayoutId xmlns:r="http://schemas.openxmlformats.org/officeDocument/2006/relationships" id="2147483656" r:id="Rb7727c82a9784abf"/>
    <p:sldLayoutId xmlns:r="http://schemas.openxmlformats.org/officeDocument/2006/relationships" id="2147483657" r:id="R8b5516d2324043ca"/>
    <p:sldLayoutId xmlns:r="http://schemas.openxmlformats.org/officeDocument/2006/relationships" id="2147483658" r:id="R476ccde3f66546c6"/>
    <p:sldLayoutId xmlns:r="http://schemas.openxmlformats.org/officeDocument/2006/relationships" id="2147483659" r:id="Ra8d6f17191c7481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887882f64e66" /><Relationship Type="http://schemas.openxmlformats.org/officeDocument/2006/relationships/notesSlide" Target="/ppt/notesSlides/notesSlide1.xml" Id="R140cb74bb2e549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71ba418f84a65" /><Relationship Type="http://schemas.openxmlformats.org/officeDocument/2006/relationships/notesSlide" Target="/ppt/notesSlides/notesSlide2.xml" Id="Rd7d19f488b29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cdf52ff0f54ee3" /><Relationship Type="http://schemas.openxmlformats.org/officeDocument/2006/relationships/notesSlide" Target="/ppt/notesSlides/notesSlide3.xml" Id="R56cf0762914a42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5a5d429284c69" /><Relationship Type="http://schemas.openxmlformats.org/officeDocument/2006/relationships/notesSlide" Target="/ppt/notesSlides/notesSlide4.xml" Id="Rad204da7a2904d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f495e026394b09" /><Relationship Type="http://schemas.openxmlformats.org/officeDocument/2006/relationships/notesSlide" Target="/ppt/notesSlides/notesSlide5.xml" Id="R7967cfa77d4241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2030c26a434ccc" /><Relationship Type="http://schemas.openxmlformats.org/officeDocument/2006/relationships/notesSlide" Target="/ppt/notesSlides/notesSlide6.xml" Id="Ra10c85c18cba42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1357eeb5a44cfa" /><Relationship Type="http://schemas.openxmlformats.org/officeDocument/2006/relationships/notesSlide" Target="/ppt/notesSlides/notesSlide7.xml" Id="R2acf115add1446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d1c7318634e7c" /><Relationship Type="http://schemas.openxmlformats.org/officeDocument/2006/relationships/notesSlide" Target="/ppt/notesSlides/notesSlide8.xml" Id="R07e7593dc90f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9cb980a37c40fa" /><Relationship Type="http://schemas.openxmlformats.org/officeDocument/2006/relationships/notesSlide" Target="/ppt/notesSlides/notesSlide9.xml" Id="R0b1e9ba5f1174a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5134a502949e7" /><Relationship Type="http://schemas.openxmlformats.org/officeDocument/2006/relationships/notesSlide" Target="/ppt/notesSlides/notesSlide10.xml" Id="R09df9c8898d74b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78af82e884160" /><Relationship Type="http://schemas.openxmlformats.org/officeDocument/2006/relationships/notesSlide" Target="/ppt/notesSlides/notesSlide11.xml" Id="Rca3e5fa10c3a47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d667409a44229" /><Relationship Type="http://schemas.openxmlformats.org/officeDocument/2006/relationships/notesSlide" Target="/ppt/notesSlides/notesSlide12.xml" Id="Re2c64e8c82d543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1f7e543ae84c01" /><Relationship Type="http://schemas.openxmlformats.org/officeDocument/2006/relationships/notesSlide" Target="/ppt/notesSlides/notesSlide13.xml" Id="Rc617f4996c1749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a55c494e74c8e" /><Relationship Type="http://schemas.openxmlformats.org/officeDocument/2006/relationships/notesSlide" Target="/ppt/notesSlides/notesSlide14.xml" Id="Ra29a92c677fb40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24b4576d34da0" /><Relationship Type="http://schemas.openxmlformats.org/officeDocument/2006/relationships/notesSlide" Target="/ppt/notesSlides/notesSlide15.xml" Id="R16f5469581c446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8d4d6700467d" /><Relationship Type="http://schemas.openxmlformats.org/officeDocument/2006/relationships/notesSlide" Target="/ppt/notesSlides/notesSlide16.xml" Id="R3e477597f58c43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HỌC TĂNG CƯỜNG</a:t>
            </a:r>
            <a:endParaRPr/>
          </a:p>
          <a:p xmlns:a="http://schemas.openxmlformats.org/drawingml/2006/main">
            <a:r>
              <a:t>UNITY ML-AGENTS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ĐỒ ÁN TỐT NGHIỆP</a:t>
            </a:r>
          </a:p>
          <a:p xmlns:a="http://schemas.openxmlformats.org/drawingml/2006/main">
            <a:pPr>
              <a:buNone/>
            </a:pPr>
            <a:r>
              <a:t>Đề tài: Học tăng cường để tối ưu hóa khả năng tương tác của AI trong game</a:t>
            </a:r>
          </a:p>
          <a:p xmlns:a="http://schemas.openxmlformats.org/drawingml/2006/main">
            <a:pPr>
              <a:buNone/>
            </a:pPr>
            <a:r>
              <a:t>Văn Thị Minh Huyền — 22010329</a:t>
            </a:r>
          </a:p>
          <a:p xmlns:a="http://schemas.openxmlformats.org/drawingml/2006/main">
            <a:pPr>
              <a:buNone/>
            </a:pPr>
            <a:r>
              <a:t>GVHD: ThS. Nguyễn Văn Sơn | Đại học Phenikaa — 2026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5369EE-6203-3F7A-D3D7-06F311D89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40B0E9-11AA-4BA1-0432-9CA96E024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A8742D-8AAA-0F9D-4C98-88469AFE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Bài toán đặt ra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Thuật toán RL đã được đóng gói trong nhiều thư viện.</a:t>
            </a:r>
          </a:p>
          <a:p xmlns:a="http://schemas.openxmlformats.org/drawingml/2006/main">
            <a:pPr>
              <a:buNone/>
            </a:pPr>
            <a:r>
              <a:t>• Phần khó là đặc tả môi trường 3D: quan sát, hành động, reward và cơ chế game.</a:t>
            </a:r>
          </a:p>
          <a:p xmlns:a="http://schemas.openxmlformats.org/drawingml/2006/main">
            <a:pPr>
              <a:buNone/>
            </a:pPr>
            <a:r>
              <a:t>• Môi trường sai thường không báo lỗi — nó âm thầm dạy agent một hành vi sai.</a:t>
            </a:r>
          </a:p>
          <a:p xmlns:a="http://schemas.openxmlformats.org/drawingml/2006/main">
            <a:pPr>
              <a:buNone/>
            </a:pPr>
            <a:r>
              <a:t> </a:t>
            </a:r>
          </a:p>
          <a:p xmlns:a="http://schemas.openxmlformats.org/drawingml/2006/main">
            <a:pPr>
              <a:buNone/>
            </a:pPr>
            <a:r>
              <a:t>Mục tiêu là tạo môi trường vừa học được, vừa kiểm chứng được.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và đóng góp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Xây dựng 3 môi trường RL ba chiều trên Unity ML-Agents.</a:t>
            </a:r>
          </a:p>
          <a:p xmlns:a="http://schemas.openxmlformats.org/drawingml/2006/main">
            <a:pPr>
              <a:buNone/>
            </a:pPr>
            <a:r>
              <a:t>• Kiểm chứng bằng 5 thuật toán: PPO, SAC, MA-POCA, MAPPO và DQN.</a:t>
            </a:r>
          </a:p>
          <a:p xmlns:a="http://schemas.openxmlformats.org/drawingml/2006/main">
            <a:pPr>
              <a:buNone/>
            </a:pPr>
            <a:r>
              <a:t>• Đóng gói môi trường, 15 cấu hình và Editor tools để tái sử dụng.</a:t>
            </a:r>
          </a:p>
          <a:p xmlns:a="http://schemas.openxmlformats.org/drawingml/2006/main">
            <a:pPr>
              <a:buNone/>
            </a:pPr>
            <a:r>
              <a:t>• Xây ứng dụng demo nạp trực tiếp các mô hình ONNX đã huấn luyện.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triển khai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Unity Environment  →  ML-Agents Trainer  →  TensorBoard  →  ONNX  →  Ứng dụng demo</a:t>
            </a:r>
          </a:p>
          <a:p xmlns:a="http://schemas.openxmlformats.org/drawingml/2006/main">
            <a:pPr>
              <a:buNone/>
            </a:pPr>
            <a:r>
              <a:t> </a:t>
            </a:r>
          </a:p>
          <a:p xmlns:a="http://schemas.openxmlformats.org/drawingml/2006/main">
            <a:pPr>
              <a:buNone/>
            </a:pPr>
            <a:r>
              <a:t>• MAPPO và DQN được bổ sung dưới dạng trainer mở rộng.</a:t>
            </a:r>
          </a:p>
          <a:p xmlns:a="http://schemas.openxmlformats.org/drawingml/2006/main">
            <a:pPr>
              <a:buNone/>
            </a:pPr>
            <a:r>
              <a:t>• Kết quả huấn luyện được xuất tự động để số liệu, biểu đồ và demo luôn thống nhất.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nguyên tắc thiết kế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95310F-718F-D49A-0DEF-2B29D84C9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1. Bám theo quỹ đạo lời giải mẫu.</a:t>
            </a:r>
          </a:p>
          <a:p xmlns:a="http://schemas.openxmlformats.org/drawingml/2006/main">
            <a:pPr>
              <a:buNone/>
            </a:pPr>
            <a:r>
              <a:t>2. Ưu tiên reward sự kiện hoặc thế năng; tránh cộng dồn vô kiểm soát.</a:t>
            </a:r>
          </a:p>
          <a:p xmlns:a="http://schemas.openxmlformats.org/drawingml/2006/main">
            <a:pPr>
              <a:buNone/>
            </a:pPr>
            <a:r>
              <a:t>3. Giữ tổng reward phụ nhỏ hơn reward mục tiêu.</a:t>
            </a:r>
          </a:p>
          <a:p xmlns:a="http://schemas.openxmlformats.org/drawingml/2006/main">
            <a:pPr>
              <a:buNone/>
            </a:pPr>
            <a:r>
              <a:t>4. Sửa cơ chế hoặc curriculum trước khi tăng hệ số reward.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AD689F-A346-E3DA-AA77-16E9D30CD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129D5F-E455-AAB7-A829-1037D0BCD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18EC6F-43EA-12D3-2F7C-38142DB631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Football Table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60 quan sát: bóng, 4 thanh gạt đội nhà và 4 thanh gạt đối thủ.</a:t>
            </a:r>
          </a:p>
          <a:p xmlns:a="http://schemas.openxmlformats.org/drawingml/2006/main">
            <a:pPr>
              <a:buNone/>
            </a:pPr>
            <a:r>
              <a:t>• 8 hành động liên tục: trượt và xoay cho mỗi thanh gạt.</a:t>
            </a:r>
          </a:p>
          <a:p xmlns:a="http://schemas.openxmlformats.org/drawingml/2006/main">
            <a:pPr>
              <a:buNone/>
            </a:pPr>
            <a:r>
              <a:t>• Reward: +5 ghi bàn; −1 thủng lưới; −1/3000 mỗi bước.</a:t>
            </a:r>
          </a:p>
          <a:p xmlns:a="http://schemas.openxmlformats.org/drawingml/2006/main">
            <a:pPr>
              <a:buNone/>
            </a:pPr>
            <a:r>
              <a:t>• Tỉ lệ +5/−1 làm mọi cơ hội ghi bàn đều đáng thử; phạt thời gian tối đa chỉ bằng 1.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The Flag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61 quan sát = 5 cờ logic + 7 tia cảm biến × 8 giá trị; 7 hành động rời rạc.</a:t>
            </a:r>
          </a:p>
          <a:p xmlns:a="http://schemas.openxmlformats.org/drawingml/2006/main">
            <a:pPr>
              <a:buNone/>
            </a:pPr>
            <a:r>
              <a:t>• Reward nhóm +1 khi cùng đến đích; +0,5 mỗi lần vượt cổng; PBRS κ = 0,01.</a:t>
            </a:r>
          </a:p>
          <a:p xmlns:a="http://schemas.openxmlformats.org/drawingml/2006/main">
            <a:pPr>
              <a:buNone/>
            </a:pPr>
            <a:r>
              <a:t>• Các reward theo bước chuẩn hóa theo N = 100.000 để không lấn reward mục tiêu.</a:t>
            </a:r>
          </a:p>
          <a:p xmlns:a="http://schemas.openxmlformats.org/drawingml/2006/main">
            <a:pPr>
              <a:buNone/>
            </a:pPr>
            <a:r>
              <a:t>• Ân hạn cửa 1 giây không đủ để một agent tự vượt cổng → phải phối hợp thật.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 The Road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132 quan sát = tọa độ agent/đích + 21 tia cảm biến × 6 giá trị.</a:t>
            </a:r>
          </a:p>
          <a:p xmlns:a="http://schemas.openxmlformats.org/drawingml/2006/main">
            <a:pPr>
              <a:buNone/>
            </a:pPr>
            <a:r>
              <a:t>• 4 hành động rời rạc: đứng yên, trái, phải, tiến.</a:t>
            </a:r>
          </a:p>
          <a:p xmlns:a="http://schemas.openxmlformats.org/drawingml/2006/main">
            <a:pPr>
              <a:buNone/>
            </a:pPr>
            <a:r>
              <a:t>• Reward: +1 đến đích; −0,025 va chạm; curiosity 0,02.</a:t>
            </a:r>
          </a:p>
          <a:p xmlns:a="http://schemas.openxmlformats.org/drawingml/2006/main">
            <a:pPr>
              <a:buNone/>
            </a:pPr>
            <a:r>
              <a:t>• Phạt −0,025 đặt ngưỡng thành công ở 2,4%, tránh chính sách đứng yên vĩnh viễn.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Thiết kế thực nghiệm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5 thuật toán × 3 môi trường = 15 lần huấn luyện.</a:t>
            </a:r>
          </a:p>
          <a:p xmlns:a="http://schemas.openxmlformats.org/drawingml/2006/main">
            <a:pPr>
              <a:buNone/>
            </a:pPr>
            <a:r>
              <a:t>• Ngân sách: Football 1,60M | Capture The Flag 1,70M | Cross The Road 2,00M bước.</a:t>
            </a:r>
          </a:p>
          <a:p xmlns:a="http://schemas.openxmlformats.org/drawingml/2006/main">
            <a:pPr>
              <a:buNone/>
            </a:pPr>
            <a:r>
              <a:t>• Trong từng môi trường, các thuật toán dùng cùng ngân sách.</a:t>
            </a:r>
          </a:p>
          <a:p xmlns:a="http://schemas.openxmlformats.org/drawingml/2006/main">
            <a:pPr>
              <a:buNone/>
            </a:pPr>
            <a:r>
              <a:t>• Nghiệm thu: học được • phân biệt được • không tạo lối tắt.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Football Table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Bốn thuật toán self-play tăng ELO từ 36 đến 64 điểm.</a:t>
            </a:r>
          </a:p>
          <a:p xmlns:a="http://schemas.openxmlformats.org/drawingml/2006/main">
            <a:pPr>
              <a:buNone/>
            </a:pPr>
            <a:r>
              <a:t>• Kết quả cuối: MAPPO 1260 | PPO 1259 | SAC 1254 | MA-POCA 1237.</a:t>
            </a:r>
          </a:p>
          <a:p xmlns:a="http://schemas.openxmlformats.org/drawingml/2006/main">
            <a:pPr>
              <a:buNone/>
            </a:pPr>
            <a:r>
              <a:t>• ELO khởi tạo xấp xỉ 1200; cơ chế self-play hoạt động đúng.</a:t>
            </a:r>
          </a:p>
          <a:p xmlns:a="http://schemas.openxmlformats.org/drawingml/2006/main">
            <a:pPr>
              <a:buNone/>
            </a:pPr>
            <a:r>
              <a:t>• Tuy nhiên dải ELO hẹp → chưa phân biệt rõ hiệu năng nhóm dẫn đầu.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Capture The Flag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PPO, MA-POCA, MAPPO và DQN đạt 0,800–0,840.</a:t>
            </a:r>
          </a:p>
          <a:p xmlns:a="http://schemas.openxmlformats.org/drawingml/2006/main">
            <a:pPr>
              <a:buNone/>
            </a:pPr>
            <a:r>
              <a:t>• SAC dừng ở 0,183; reward dao động và episode chạm trần thời gian.</a:t>
            </a:r>
          </a:p>
          <a:p xmlns:a="http://schemas.openxmlformats.org/drawingml/2006/main">
            <a:pPr>
              <a:buNone/>
            </a:pPr>
            <a:r>
              <a:t>• Entropy SAC sụp rồi bật về cực đại; curiosity cao hơn hẳn nhóm còn lại.</a:t>
            </a:r>
          </a:p>
          <a:p xmlns:a="http://schemas.openxmlformats.org/drawingml/2006/main">
            <a:pPr>
              <a:buNone/>
            </a:pPr>
            <a:r>
              <a:t>• Thất bại này phù hợp với bài toán hợp tác có reward nhóm và curriculum.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 The Road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SAC dẫn đầu với reward cuối 0,846; DQN đạt 0,336.</a:t>
            </a:r>
          </a:p>
          <a:p xmlns:a="http://schemas.openxmlformats.org/drawingml/2006/main">
            <a:pPr>
              <a:buNone/>
            </a:pPr>
            <a:r>
              <a:t>• MAPPO đạt 0,835; phổ kết quả rộng hơn hai môi trường còn lại.</a:t>
            </a:r>
          </a:p>
          <a:p xmlns:a="http://schemas.openxmlformats.org/drawingml/2006/main">
            <a:pPr>
              <a:buNone/>
            </a:pPr>
            <a:r>
              <a:t>• Cùng ngân sách bước: SAC mất khoảng 139 phút, PPO khoảng 48 phút.</a:t>
            </a:r>
          </a:p>
          <a:p xmlns:a="http://schemas.openxmlformats.org/drawingml/2006/main">
            <a:pPr>
              <a:buNone/>
            </a:pPr>
            <a:r>
              <a:t>• Hiệu quả mẫu phụ thuộc cả cấu hình cập nhật và chi phí tính toán.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điệp chính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95310F-718F-D49A-0DEF-2B29D84C9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Cùng SAC: 0,846 ở Cross The Road nhưng 0,183 ở Capture The Flag.</a:t>
            </a:r>
          </a:p>
          <a:p xmlns:a="http://schemas.openxmlformats.org/drawingml/2006/main">
            <a:pPr>
              <a:buNone/>
            </a:pPr>
            <a:r>
              <a:t> </a:t>
            </a:r>
          </a:p>
          <a:p xmlns:a="http://schemas.openxmlformats.org/drawingml/2006/main">
            <a:pPr>
              <a:buNone/>
            </a:pPr>
            <a:r>
              <a:t>Chênh lệch giữa các môi trường lớn hơn chênh lệch giữa các thuật toán trong cùng môi trường.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AD689F-A346-E3DA-AA77-16E9D30CD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129D5F-E455-AAB7-A829-1037D0BCD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18EC6F-43EA-12D3-2F7C-38142DB631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Ứng dụng demo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Nạp trực tiếp 15 mô hình ONNX vào Unity.</a:t>
            </a:r>
          </a:p>
          <a:p xmlns:a="http://schemas.openxmlformats.org/drawingml/2006/main">
            <a:pPr>
              <a:buNone/>
            </a:pPr>
            <a:r>
              <a:t>• Ba chế độ: người chơi, agent tự chơi và chơi cùng agent.</a:t>
            </a:r>
          </a:p>
          <a:p xmlns:a="http://schemas.openxmlformats.org/drawingml/2006/main">
            <a:pPr>
              <a:buNone/>
            </a:pPr>
            <a:r>
              <a:t>• Tab THÔNG SỐ và SO SÁNH đọc tự động kết quả training.</a:t>
            </a:r>
          </a:p>
          <a:p xmlns:a="http://schemas.openxmlformats.org/drawingml/2006/main">
            <a:pPr>
              <a:buNone/>
            </a:pPr>
            <a:r>
              <a:t>• Quan sát hành vi thực tế giúp phát hiện lỗi đặc tả mà reward curve có thể che giấu.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Hạn chế và hướng phát triển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• Mỗi tổ hợp hiện có một seed → chưa đủ cơ sở thống kê cho chênh lệch nhỏ.</a:t>
            </a:r>
          </a:p>
          <a:p xmlns:a="http://schemas.openxmlformats.org/drawingml/2006/main">
            <a:pPr>
              <a:buNone/>
            </a:pPr>
            <a:r>
              <a:t>• Football Table và Capture The Flag cần tăng độ khó để tăng độ phân giải.</a:t>
            </a:r>
          </a:p>
          <a:p xmlns:a="http://schemas.openxmlformats.org/drawingml/2006/main">
            <a:pPr>
              <a:buNone/>
            </a:pPr>
            <a:r>
              <a:t>• Kiểm chứng giả thuyết SAC–CTF bằng replay buffer tách theo bài học.</a:t>
            </a:r>
          </a:p>
          <a:p xmlns:a="http://schemas.openxmlformats.org/drawingml/2006/main">
            <a:pPr>
              <a:buNone/>
            </a:pPr>
            <a:r>
              <a:t>• Lặp lại 15 thí nghiệm trên nhiều seed; mở rộng DreamerV3 hoặc QMIX.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Ba môi trường 3D, 15 cấu hình huấn luyện và ứng dụng demo đã được đóng gói để tái sử dụng.</a:t>
            </a:r>
          </a:p>
          <a:p xmlns:a="http://schemas.openxmlformats.org/drawingml/2006/main">
            <a:pPr>
              <a:buNone/>
            </a:pPr>
            <a:r>
              <a:t> </a:t>
            </a:r>
          </a:p>
          <a:p xmlns:a="http://schemas.openxmlformats.org/drawingml/2006/main">
            <a:pPr>
              <a:buNone/>
            </a:pPr>
            <a:r>
              <a:t>Đầu tư vào đặc tả, reward và kiểm chứng môi trường là điều kiện để RL trong game đáng tin cậy.</a:t>
            </a:r>
          </a:p>
          <a:p xmlns:a="http://schemas.openxmlformats.org/drawingml/2006/main">
            <a:pPr>
              <a:buNone/>
            </a:pPr>
            <a:r>
              <a:t> </a:t>
            </a:r>
          </a:p>
          <a:p xmlns:a="http://schemas.openxmlformats.org/drawingml/2006/main">
            <a:pPr>
              <a:buNone/>
            </a:pPr>
            <a:r>
              <a:t>Xin cảm ơn Hội đồng!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5369EE-6203-3F7A-D3D7-06F311D89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270FCA-C5B7-4494-41EA-6EE731A9E560}" type="datetimeFigureOut">
              <a:t>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40B0E9-11AA-4BA1-0432-9CA96E024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Đồ án tốt nghiệp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A8742D-8AAA-0F9D-4C98-88469AFE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2026-08-14T09:00:21.5080000Z</dcterms:created>
  <dcterms:modified xsi:type="dcterms:W3CDTF">2026-08-14T09:00:21.5080000Z</dcterms:modified>
</coreProperties>
</file>